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1168BD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5120640"/>
            <a:ext cx="3108960" cy="3108960"/>
          </a:xfrm>
          <a:prstGeom prst="ellipse">
            <a:avLst/>
          </a:prstGeom>
          <a:solidFill>
            <a:srgbClr val="E8590C">
              <a:alpha val="5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280160" y="4846320"/>
            <a:ext cx="3291840" cy="3291840"/>
          </a:xfrm>
          <a:prstGeom prst="ellipse">
            <a:avLst/>
          </a:prstGeom>
          <a:solidFill>
            <a:srgbClr val="438DD5">
              <a:alpha val="3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FB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ESGI 4AL - ARCHITECTURE MICROSERVICES - GROUPE 14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Plateforme de livraison de repas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731520" y="28803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d'une architecture microservices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31520" y="4206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microservices  -  SAGA orchestrée  -  Circuit Breaker  -  REST + RabbitMQ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5943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Soutenance - 15 minutes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système, trois acteurs, deux mondes externes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F4F7FB"/>
          </a:solidFill>
          <a:ln w="12700">
            <a:solidFill>
              <a:srgbClr val="D8E2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74520"/>
            <a:ext cx="502920" cy="502920"/>
          </a:xfrm>
          <a:prstGeom prst="ellipse">
            <a:avLst/>
          </a:prstGeom>
          <a:solidFill>
            <a:srgbClr val="1168BD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2514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77240" y="29260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Parcourt les restaurants, compose son panier, paie en ligne et suit sa livraison en temps réel.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25112" y="160020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F4F7FB"/>
          </a:solidFill>
          <a:ln w="12700">
            <a:solidFill>
              <a:srgbClr val="D8E2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99432" y="1874520"/>
            <a:ext cx="502920" cy="502920"/>
          </a:xfrm>
          <a:prstGeom prst="ellipse">
            <a:avLst/>
          </a:prstGeom>
          <a:solidFill>
            <a:srgbClr val="1168BD"/>
          </a:solidFill>
          <a:ln/>
        </p:spPr>
      </p:sp>
      <p:sp>
        <p:nvSpPr>
          <p:cNvPr id="11" name="Text 9"/>
          <p:cNvSpPr/>
          <p:nvPr/>
        </p:nvSpPr>
        <p:spPr>
          <a:xfrm>
            <a:off x="4599432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99432" y="2514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Restaurateur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599432" y="29260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Gère son profil, ses menus et ses horaires ; accepte ou refuse chaque commande reçue.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147304" y="160020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F4F7FB"/>
          </a:solidFill>
          <a:ln w="12700">
            <a:solidFill>
              <a:srgbClr val="D8E2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21624" y="1874520"/>
            <a:ext cx="502920" cy="502920"/>
          </a:xfrm>
          <a:prstGeom prst="ellipse">
            <a:avLst/>
          </a:prstGeom>
          <a:solidFill>
            <a:srgbClr val="1168BD"/>
          </a:solidFill>
          <a:ln/>
        </p:spPr>
      </p:sp>
      <p:sp>
        <p:nvSpPr>
          <p:cNvPr id="16" name="Text 14"/>
          <p:cNvSpPr/>
          <p:nvPr/>
        </p:nvSpPr>
        <p:spPr>
          <a:xfrm>
            <a:off x="8421624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21624" y="2514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Livreur indépendant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421624" y="29260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Déclare sa disponibilité, accepte les courses proposées et confirme la remise au client.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02920" y="4343400"/>
            <a:ext cx="11183112" cy="1691640"/>
          </a:xfrm>
          <a:prstGeom prst="roundRect">
            <a:avLst>
              <a:gd name="adj" fmla="val 4324"/>
            </a:avLst>
          </a:prstGeom>
          <a:solidFill>
            <a:srgbClr val="EAF1F9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5720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Systèmes externes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22960" y="49377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PSP (Stripe) : autorisation, capture et remboursement des paiements - aucune donnée de carte chez nous</a:t>
            </a:r>
            <a:endParaRPr lang="en-US" sz="140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Fournisseurs email / SMS / push (simulés) pour les notifications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microservices - Plateforme de livraison de repas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DU DOMAINE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démarche DDD : des sous-domaines aux bounded contexts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3566160" cy="2788920"/>
          </a:xfrm>
          <a:prstGeom prst="roundRect">
            <a:avLst>
              <a:gd name="adj" fmla="val 2623"/>
            </a:avLst>
          </a:prstGeom>
          <a:solidFill>
            <a:srgbClr val="F4F7FB"/>
          </a:solidFill>
          <a:ln w="12700">
            <a:solidFill>
              <a:srgbClr val="D8E2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28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59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Cœur de métier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" y="228600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Prise de commande (orchestration de bout en bout)</a:t>
            </a:r>
            <a:endParaRPr lang="en-US" sz="13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Livraison et affectation des livreurs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325112" y="1600200"/>
            <a:ext cx="3566160" cy="2788920"/>
          </a:xfrm>
          <a:prstGeom prst="roundRect">
            <a:avLst>
              <a:gd name="adj" fmla="val 2623"/>
            </a:avLst>
          </a:prstGeom>
          <a:solidFill>
            <a:srgbClr val="F4F7FB"/>
          </a:solidFill>
          <a:ln w="12700">
            <a:solidFill>
              <a:srgbClr val="D8E2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9432" y="1828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68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Support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599432" y="228600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Restaurants et menus</a:t>
            </a:r>
            <a:endParaRPr lang="en-US" sz="13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Catalogue et recherche</a:t>
            </a:r>
            <a:endParaRPr lang="en-US" sz="13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et comptes</a:t>
            </a:r>
            <a:endParaRPr lang="en-US" sz="13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/ avis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147304" y="1600200"/>
            <a:ext cx="3566160" cy="2788920"/>
          </a:xfrm>
          <a:prstGeom prst="roundRect">
            <a:avLst>
              <a:gd name="adj" fmla="val 2623"/>
            </a:avLst>
          </a:prstGeom>
          <a:solidFill>
            <a:srgbClr val="F4F7FB"/>
          </a:solidFill>
          <a:ln w="12700">
            <a:solidFill>
              <a:srgbClr val="D8E2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21624" y="1828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A64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Générique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421624" y="228600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Paiement (délégué au PSP)</a:t>
            </a:r>
            <a:endParaRPr lang="en-US" sz="13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 (purement technique)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02920" y="4709160"/>
            <a:ext cx="11183112" cy="1371600"/>
          </a:xfrm>
          <a:prstGeom prst="roundRect">
            <a:avLst>
              <a:gd name="adj" fmla="val 5333"/>
            </a:avLst>
          </a:prstGeom>
          <a:solidFill>
            <a:srgbClr val="EAF1F9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8920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même mot, des modèles différents :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« commande » est un agrégat avec cycle de vie pour Commande, un ticket de préparation pour Restaurant, une simple course pour Livraison. Ces divergences de langage délimitent les bounded contexts - et donc les microservices.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microservices - Plateforme de livraison de repas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DÉCOUPAGE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Huit microservices, un par bounded context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45920"/>
            <a:ext cx="2633472" cy="1783080"/>
          </a:xfrm>
          <a:prstGeom prst="roundRect">
            <a:avLst>
              <a:gd name="adj" fmla="val 3590"/>
            </a:avLst>
          </a:prstGeom>
          <a:solidFill>
            <a:srgbClr val="F4F7FB"/>
          </a:solidFill>
          <a:ln w="12700">
            <a:solidFill>
              <a:srgbClr val="D8E2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04088" y="181051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04088" y="2176272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Comptes, profils, adresses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04088" y="2944368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EAF1F9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2944368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68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64992" y="1645920"/>
            <a:ext cx="2633472" cy="1783080"/>
          </a:xfrm>
          <a:prstGeom prst="roundRect">
            <a:avLst>
              <a:gd name="adj" fmla="val 3590"/>
            </a:avLst>
          </a:prstGeom>
          <a:solidFill>
            <a:srgbClr val="F4F7FB"/>
          </a:solidFill>
          <a:ln w="12700">
            <a:solidFill>
              <a:srgbClr val="D8E2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66160" y="181051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Restaurant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566160" y="2176272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Menus, horaires, acceptation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566160" y="2944368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EAF1F9"/>
          </a:solidFill>
          <a:ln/>
        </p:spPr>
      </p:sp>
      <p:sp>
        <p:nvSpPr>
          <p:cNvPr id="13" name="Text 11"/>
          <p:cNvSpPr/>
          <p:nvPr/>
        </p:nvSpPr>
        <p:spPr>
          <a:xfrm>
            <a:off x="3566160" y="2944368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68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27064" y="1645920"/>
            <a:ext cx="2633472" cy="1783080"/>
          </a:xfrm>
          <a:prstGeom prst="roundRect">
            <a:avLst>
              <a:gd name="adj" fmla="val 3590"/>
            </a:avLst>
          </a:prstGeom>
          <a:solidFill>
            <a:srgbClr val="F4F7FB"/>
          </a:solidFill>
          <a:ln w="12700">
            <a:solidFill>
              <a:srgbClr val="D8E2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28232" y="181051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Catalogue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28232" y="2176272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(read model)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28232" y="2944368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EAF1F9"/>
          </a:solidFill>
          <a:ln/>
        </p:spPr>
      </p:sp>
      <p:sp>
        <p:nvSpPr>
          <p:cNvPr id="18" name="Text 16"/>
          <p:cNvSpPr/>
          <p:nvPr/>
        </p:nvSpPr>
        <p:spPr>
          <a:xfrm>
            <a:off x="6428232" y="2944368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68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+ Redis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089136" y="1645920"/>
            <a:ext cx="2633472" cy="1783080"/>
          </a:xfrm>
          <a:prstGeom prst="roundRect">
            <a:avLst>
              <a:gd name="adj" fmla="val 359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90304" y="181051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Commande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290304" y="2176272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de vie + orchestrateur SAGA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290304" y="2944368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1168BD"/>
          </a:solidFill>
          <a:ln/>
        </p:spPr>
      </p:sp>
      <p:sp>
        <p:nvSpPr>
          <p:cNvPr id="23" name="Text 21"/>
          <p:cNvSpPr/>
          <p:nvPr/>
        </p:nvSpPr>
        <p:spPr>
          <a:xfrm>
            <a:off x="9290304" y="2944368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02920" y="3611880"/>
            <a:ext cx="2633472" cy="1783080"/>
          </a:xfrm>
          <a:prstGeom prst="roundRect">
            <a:avLst>
              <a:gd name="adj" fmla="val 3590"/>
            </a:avLst>
          </a:prstGeom>
          <a:solidFill>
            <a:srgbClr val="F4F7FB"/>
          </a:solidFill>
          <a:ln w="12700">
            <a:solidFill>
              <a:srgbClr val="D8E2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4088" y="377647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Paiement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04088" y="4142232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Autorisation, capture, remboursement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04088" y="4910328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EAF1F9"/>
          </a:solidFill>
          <a:ln/>
        </p:spPr>
      </p:sp>
      <p:sp>
        <p:nvSpPr>
          <p:cNvPr id="28" name="Text 26"/>
          <p:cNvSpPr/>
          <p:nvPr/>
        </p:nvSpPr>
        <p:spPr>
          <a:xfrm>
            <a:off x="704088" y="4910328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68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364992" y="3611880"/>
            <a:ext cx="2633472" cy="1783080"/>
          </a:xfrm>
          <a:prstGeom prst="roundRect">
            <a:avLst>
              <a:gd name="adj" fmla="val 3590"/>
            </a:avLst>
          </a:prstGeom>
          <a:solidFill>
            <a:srgbClr val="F4F7FB"/>
          </a:solidFill>
          <a:ln w="12700">
            <a:solidFill>
              <a:srgbClr val="D8E2E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566160" y="377647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Livraison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3566160" y="4142232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Livreurs, affectation, suivi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566160" y="4910328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EAF1F9"/>
          </a:solidFill>
          <a:ln/>
        </p:spPr>
      </p:sp>
      <p:sp>
        <p:nvSpPr>
          <p:cNvPr id="33" name="Text 31"/>
          <p:cNvSpPr/>
          <p:nvPr/>
        </p:nvSpPr>
        <p:spPr>
          <a:xfrm>
            <a:off x="3566160" y="4910328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68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Redis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227064" y="3611880"/>
            <a:ext cx="2633472" cy="1783080"/>
          </a:xfrm>
          <a:prstGeom prst="roundRect">
            <a:avLst>
              <a:gd name="adj" fmla="val 3590"/>
            </a:avLst>
          </a:prstGeom>
          <a:solidFill>
            <a:srgbClr val="F4F7FB"/>
          </a:solidFill>
          <a:ln w="12700">
            <a:solidFill>
              <a:srgbClr val="D8E2E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77647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Notation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428232" y="4142232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 restaurants et livreurs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428232" y="4910328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EAF1F9"/>
          </a:solidFill>
          <a:ln/>
        </p:spPr>
      </p:sp>
      <p:sp>
        <p:nvSpPr>
          <p:cNvPr id="38" name="Text 36"/>
          <p:cNvSpPr/>
          <p:nvPr/>
        </p:nvSpPr>
        <p:spPr>
          <a:xfrm>
            <a:off x="6428232" y="4910328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68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9089136" y="3611880"/>
            <a:ext cx="2633472" cy="1783080"/>
          </a:xfrm>
          <a:prstGeom prst="roundRect">
            <a:avLst>
              <a:gd name="adj" fmla="val 3590"/>
            </a:avLst>
          </a:prstGeom>
          <a:solidFill>
            <a:srgbClr val="F4F7FB"/>
          </a:solidFill>
          <a:ln w="12700">
            <a:solidFill>
              <a:srgbClr val="D8E2E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290304" y="377647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Notification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290304" y="4142232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Email, push, SMS (simulés)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9290304" y="4910328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EAF1F9"/>
          </a:solidFill>
          <a:ln/>
        </p:spPr>
      </p:sp>
      <p:sp>
        <p:nvSpPr>
          <p:cNvPr id="43" name="Text 41"/>
          <p:cNvSpPr/>
          <p:nvPr/>
        </p:nvSpPr>
        <p:spPr>
          <a:xfrm>
            <a:off x="9290304" y="4910328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68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502920" y="57150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per service : chaque service est seul propriétaire de ses données - aucune base partagée.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microservices - Plateforme de livraison de repas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D'ENSEMBLE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Diagramme de conteneurs (C4 - niveau 2)</a:t>
            </a:r>
            <a:endParaRPr lang="en-US" sz="3000" dirty="0"/>
          </a:p>
        </p:txBody>
      </p:sp>
      <p:pic>
        <p:nvPicPr>
          <p:cNvPr id="4" name="Image 0" descr="c2-conteneu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1371600"/>
            <a:ext cx="10634472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microservices - Plateforme de livraison de repas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Synchrone quand il le faut, asynchrone par défaut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5486400" cy="3291840"/>
          </a:xfrm>
          <a:prstGeom prst="roundRect">
            <a:avLst>
              <a:gd name="adj" fmla="val 2222"/>
            </a:avLst>
          </a:prstGeom>
          <a:solidFill>
            <a:srgbClr val="F4F7FB"/>
          </a:solidFill>
          <a:ln w="12700">
            <a:solidFill>
              <a:srgbClr val="D8E2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783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68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 / JSON (synchrone)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" y="2240280"/>
            <a:ext cx="49834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Fronts -&gt; API Gateway Kong -&gt; services (lectures, actions)</a:t>
            </a:r>
            <a:endParaRPr lang="en-US" sz="140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Commande -&gt; Paiement : le client attend l'autorisation</a:t>
            </a:r>
            <a:endParaRPr lang="en-US" sz="140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Contrats OpenAPI 3, versionnés par le chemin (/v1)</a:t>
            </a:r>
            <a:endParaRPr lang="en-US" sz="140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Toujours protégé : timeout, retry, circuit breaker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554480"/>
            <a:ext cx="5486400" cy="3291840"/>
          </a:xfrm>
          <a:prstGeom prst="roundRect">
            <a:avLst>
              <a:gd name="adj" fmla="val 2222"/>
            </a:avLst>
          </a:prstGeom>
          <a:solidFill>
            <a:srgbClr val="FFF2E8"/>
          </a:solidFill>
          <a:ln w="12700">
            <a:solidFill>
              <a:srgbClr val="F2C4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1783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59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Événements RabbitMQ (asynchrone)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92240" y="2240280"/>
            <a:ext cx="49834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Échange topic delivery.events, une file durable par consommateur</a:t>
            </a:r>
            <a:endParaRPr lang="en-US" sz="140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Étapes à délai humain : acceptation restaurant, affectation livreur</a:t>
            </a:r>
            <a:endParaRPr lang="en-US" sz="140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Publish/subscribe : notifications, projection du catalogue</a:t>
            </a:r>
            <a:endParaRPr lang="en-US" sz="140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At-least-once + idempotence, outbox transactionnel, DLQ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5074920"/>
            <a:ext cx="11201400" cy="1051560"/>
          </a:xfrm>
          <a:prstGeom prst="roundRect">
            <a:avLst>
              <a:gd name="adj" fmla="val 6957"/>
            </a:avLst>
          </a:prstGeom>
          <a:solidFill>
            <a:srgbClr val="EAF1F9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52578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 Kong :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d'entrée unique - routage, JWT, rate limiting. Le service Paiement n'est pas exposé : il n'est joignable que depuis le réseau interne.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microservices - Plateforme de livraison de repas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CONTRATS D'API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Trois contrats OpenAPI 3 pour les services clés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6916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de vérité versionnée avec le code (docs/api/*.yaml)</a:t>
            </a:r>
            <a:endParaRPr lang="en-US" sz="1400" dirty="0"/>
          </a:p>
          <a:p>
            <a:pPr marL="152400" indent="-1524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Erreurs uniformes { code, message, details }</a:t>
            </a:r>
            <a:endParaRPr lang="en-US" sz="1400" dirty="0"/>
          </a:p>
          <a:p>
            <a:pPr marL="152400" indent="-1524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Idempotency-Key obligatoire sur toutes les écritures rejouables</a:t>
            </a:r>
            <a:endParaRPr lang="en-US" sz="1400" dirty="0"/>
          </a:p>
          <a:p>
            <a:pPr marL="152400" indent="-1524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UUID opaques entre services, jamais de clé étrangère</a:t>
            </a:r>
            <a:endParaRPr lang="en-US" sz="1400" dirty="0"/>
          </a:p>
          <a:p>
            <a:pPr marL="152400" indent="-1524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503 + Retry-After quand le circuit breaker est ouvert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00600" y="1691640"/>
          <a:ext cx="6903720" cy="914400"/>
        </p:xfrm>
        <a:graphic>
          <a:graphicData uri="http://schemas.openxmlformats.org/drawingml/2006/table">
            <a:tbl>
              <a:tblPr/>
              <a:tblGrid>
                <a:gridCol w="3154680"/>
                <a:gridCol w="3749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Rôle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/v1/commandes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Créer la commande - démarre la SAGA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 /v1/commandes/{id}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Suivi : RECUE ... LIVREE / ANNULEE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/v1/paiements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Autorisation (fonds réservés)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/v1/paiements/{id}/capture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Débit à la livraison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/v1/paiements/{id}/remboursement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Compensation de la SAGA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.../commandes/{id}/decision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Restaurateur : accepter / refuser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 /v1/restaurants/{id}/menus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Menus -&gt; événement menu.mis-a-jour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microservices - Plateforme de livraison de repas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COHÉRENCE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 de transaction distribuée : une SAGA orchestrée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5212080" cy="4389120"/>
          </a:xfrm>
          <a:prstGeom prst="roundRect">
            <a:avLst>
              <a:gd name="adj" fmla="val 1667"/>
            </a:avLst>
          </a:prstGeom>
          <a:solidFill>
            <a:srgbClr val="F4F7FB"/>
          </a:solidFill>
          <a:ln w="12700">
            <a:solidFill>
              <a:srgbClr val="D8E2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288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Stratégie de cohérence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" y="2286000"/>
            <a:ext cx="47091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 à l'intérieur d'un service, cohérence à terme entre services</a:t>
            </a:r>
            <a:endParaRPr lang="en-US" sz="1350" dirty="0"/>
          </a:p>
          <a:p>
            <a:pPr marL="152400" indent="-1524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2PC/XA rejeté : bloquant, fragile, non supporté par nos briques</a:t>
            </a:r>
            <a:endParaRPr lang="en-US" sz="1350" dirty="0"/>
          </a:p>
          <a:p>
            <a:pPr marL="152400" indent="-1524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Transactional Outbox : état + événement publiés atomiquement</a:t>
            </a:r>
            <a:endParaRPr lang="en-US" sz="1350" dirty="0"/>
          </a:p>
          <a:p>
            <a:pPr marL="152400" indent="-1524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Idempotence généralisée (déduplication par message_id)</a:t>
            </a:r>
            <a:endParaRPr lang="en-US" sz="1350" dirty="0"/>
          </a:p>
          <a:p>
            <a:pPr marL="152400" indent="-1524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choisie contre la chorégraphie : 5 étapes et 3 compensations lisibles en un seul endroit, état requêtable (saga_state)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172200" y="1737360"/>
            <a:ext cx="457200" cy="457200"/>
          </a:xfrm>
          <a:prstGeom prst="ellipse">
            <a:avLst/>
          </a:prstGeom>
          <a:solidFill>
            <a:srgbClr val="1168BD"/>
          </a:solidFill>
          <a:ln/>
        </p:spPr>
      </p:sp>
      <p:sp>
        <p:nvSpPr>
          <p:cNvPr id="8" name="Text 6"/>
          <p:cNvSpPr/>
          <p:nvPr/>
        </p:nvSpPr>
        <p:spPr>
          <a:xfrm>
            <a:off x="617220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12280" y="171907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Création de la commande (état RECUE)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0" cy="384048"/>
          </a:xfrm>
          <a:prstGeom prst="line">
            <a:avLst/>
          </a:prstGeom>
          <a:noFill/>
          <a:ln w="19050">
            <a:solidFill>
              <a:srgbClr val="B9C6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72200" y="2578608"/>
            <a:ext cx="457200" cy="457200"/>
          </a:xfrm>
          <a:prstGeom prst="ellipse">
            <a:avLst/>
          </a:prstGeom>
          <a:solidFill>
            <a:srgbClr val="E8590C"/>
          </a:solidFill>
          <a:ln/>
        </p:spPr>
      </p:sp>
      <p:sp>
        <p:nvSpPr>
          <p:cNvPr id="12" name="Text 10"/>
          <p:cNvSpPr/>
          <p:nvPr/>
        </p:nvSpPr>
        <p:spPr>
          <a:xfrm>
            <a:off x="617220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812280" y="256032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Autorisation du paiement - REST + circuit breaker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0" y="3035808"/>
            <a:ext cx="0" cy="384048"/>
          </a:xfrm>
          <a:prstGeom prst="line">
            <a:avLst/>
          </a:prstGeom>
          <a:noFill/>
          <a:ln w="19050">
            <a:solidFill>
              <a:srgbClr val="B9C6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3419856"/>
            <a:ext cx="457200" cy="457200"/>
          </a:xfrm>
          <a:prstGeom prst="ellipse">
            <a:avLst/>
          </a:prstGeom>
          <a:solidFill>
            <a:srgbClr val="1168BD"/>
          </a:solidFill>
          <a:ln/>
        </p:spPr>
      </p:sp>
      <p:sp>
        <p:nvSpPr>
          <p:cNvPr id="16" name="Text 14"/>
          <p:cNvSpPr/>
          <p:nvPr/>
        </p:nvSpPr>
        <p:spPr>
          <a:xfrm>
            <a:off x="6172200" y="34198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812280" y="340156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Acceptation du restaurant - message, timeout 5 min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0" y="3877056"/>
            <a:ext cx="0" cy="384048"/>
          </a:xfrm>
          <a:prstGeom prst="line">
            <a:avLst/>
          </a:prstGeom>
          <a:noFill/>
          <a:ln w="19050">
            <a:solidFill>
              <a:srgbClr val="B9C6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72200" y="4261104"/>
            <a:ext cx="457200" cy="457200"/>
          </a:xfrm>
          <a:prstGeom prst="ellipse">
            <a:avLst/>
          </a:prstGeom>
          <a:solidFill>
            <a:srgbClr val="1168BD"/>
          </a:solidFill>
          <a:ln/>
        </p:spPr>
      </p:sp>
      <p:sp>
        <p:nvSpPr>
          <p:cNvPr id="20" name="Text 18"/>
          <p:cNvSpPr/>
          <p:nvPr/>
        </p:nvSpPr>
        <p:spPr>
          <a:xfrm>
            <a:off x="6172200" y="4261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812280" y="4242816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Affectation d'un livreur - message, timeout 10 min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00800" y="4718304"/>
            <a:ext cx="0" cy="384048"/>
          </a:xfrm>
          <a:prstGeom prst="line">
            <a:avLst/>
          </a:prstGeom>
          <a:noFill/>
          <a:ln w="19050">
            <a:solidFill>
              <a:srgbClr val="B9C6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72200" y="5102352"/>
            <a:ext cx="457200" cy="457200"/>
          </a:xfrm>
          <a:prstGeom prst="ellipse">
            <a:avLst/>
          </a:prstGeom>
          <a:solidFill>
            <a:srgbClr val="1168BD"/>
          </a:solidFill>
          <a:ln/>
        </p:spPr>
      </p:sp>
      <p:sp>
        <p:nvSpPr>
          <p:cNvPr id="24" name="Text 22"/>
          <p:cNvSpPr/>
          <p:nvPr/>
        </p:nvSpPr>
        <p:spPr>
          <a:xfrm>
            <a:off x="6172200" y="5102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812280" y="5084064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Livraison confirmée puis capture du paiement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172200" y="58978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Pivot : l'acceptation du restaurant. Avant : annulation sans impact. Après : la plateforme assume (remboursement).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microservices - Plateforme de livraison de repas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Passage de commande : nominal et compensation</a:t>
            </a:r>
            <a:endParaRPr lang="en-US" sz="3000" dirty="0"/>
          </a:p>
        </p:txBody>
      </p:sp>
      <p:pic>
        <p:nvPicPr>
          <p:cNvPr id="4" name="Image 0" descr="seq-saga-comman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20240" y="1325880"/>
            <a:ext cx="8321040" cy="5120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microservices - Plateforme de livraison de repas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Trois scénarios d'échec, trois compensations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45920"/>
            <a:ext cx="3566160" cy="2651760"/>
          </a:xfrm>
          <a:prstGeom prst="roundRect">
            <a:avLst>
              <a:gd name="adj" fmla="val 2759"/>
            </a:avLst>
          </a:prstGeom>
          <a:solidFill>
            <a:srgbClr val="F4F7FB"/>
          </a:solidFill>
          <a:ln w="12700">
            <a:solidFill>
              <a:srgbClr val="D8E2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7452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7452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Échec 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77240" y="23317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Paiement refusé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306324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2 - rien à défaire : la commande passe ANNULEE, le client est notifié immédiatement.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25112" y="1645920"/>
            <a:ext cx="3566160" cy="2651760"/>
          </a:xfrm>
          <a:prstGeom prst="roundRect">
            <a:avLst>
              <a:gd name="adj" fmla="val 2759"/>
            </a:avLst>
          </a:prstGeom>
          <a:solidFill>
            <a:srgbClr val="F4F7FB"/>
          </a:solidFill>
          <a:ln w="12700">
            <a:solidFill>
              <a:srgbClr val="D8E2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99432" y="187452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/>
        </p:spPr>
      </p:sp>
      <p:sp>
        <p:nvSpPr>
          <p:cNvPr id="11" name="Text 9"/>
          <p:cNvSpPr/>
          <p:nvPr/>
        </p:nvSpPr>
        <p:spPr>
          <a:xfrm>
            <a:off x="4599432" y="187452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Échec 2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99432" y="23317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Restaurant refuse ou silencieux (5 min)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99432" y="306324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Remboursement de l'autorisation, commande ANNULEE, notification. Scénario illustré dans le diagramme de séquence.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47304" y="1645920"/>
            <a:ext cx="3566160" cy="2651760"/>
          </a:xfrm>
          <a:prstGeom prst="roundRect">
            <a:avLst>
              <a:gd name="adj" fmla="val 2759"/>
            </a:avLst>
          </a:prstGeom>
          <a:solidFill>
            <a:srgbClr val="F4F7FB"/>
          </a:solidFill>
          <a:ln w="12700">
            <a:solidFill>
              <a:srgbClr val="D8E2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21624" y="187452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/>
        </p:spPr>
      </p:sp>
      <p:sp>
        <p:nvSpPr>
          <p:cNvPr id="16" name="Text 14"/>
          <p:cNvSpPr/>
          <p:nvPr/>
        </p:nvSpPr>
        <p:spPr>
          <a:xfrm>
            <a:off x="8421624" y="187452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Échec 3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421624" y="23317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Aucun livreur disponible (10 min)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21624" y="306324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Après le pivot : remboursement complet, annulation, notification du client et du restaurant.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4617720"/>
            <a:ext cx="11183112" cy="1417320"/>
          </a:xfrm>
          <a:prstGeom prst="roundRect">
            <a:avLst>
              <a:gd name="adj" fmla="val 5161"/>
            </a:avLst>
          </a:prstGeom>
          <a:solidFill>
            <a:srgbClr val="EAF1F9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800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Robustesse des compensations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22960" y="51663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Idempotentes et rejouées indéfiniment avec backoff - jamais abandonnées (alerte au-delà d'un seuil)</a:t>
            </a:r>
            <a:endParaRPr lang="en-US" sz="1350" dirty="0"/>
          </a:p>
          <a:p>
            <a:pPr marL="152400" indent="-1524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Échéances stockées dans saga_state ; un scheduler compense automatiquement les étapes expirées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microservices - Plateforme de livraison de repas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RÉSILIENCE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Quatre patterns combinés sur l'appel Commande -&gt; Paiement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45920"/>
            <a:ext cx="5486400" cy="1874520"/>
          </a:xfrm>
          <a:prstGeom prst="roundRect">
            <a:avLst>
              <a:gd name="adj" fmla="val 3902"/>
            </a:avLst>
          </a:prstGeom>
          <a:solidFill>
            <a:srgbClr val="F4F7FB"/>
          </a:solidFill>
          <a:ln w="12700">
            <a:solidFill>
              <a:srgbClr val="D8E2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8952" y="1901952"/>
            <a:ext cx="457200" cy="457200"/>
          </a:xfrm>
          <a:prstGeom prst="ellipse">
            <a:avLst/>
          </a:prstGeom>
          <a:solidFill>
            <a:srgbClr val="1168BD"/>
          </a:solidFill>
          <a:ln/>
        </p:spPr>
      </p:sp>
      <p:sp>
        <p:nvSpPr>
          <p:cNvPr id="6" name="Text 4"/>
          <p:cNvSpPr/>
          <p:nvPr/>
        </p:nvSpPr>
        <p:spPr>
          <a:xfrm>
            <a:off x="758952" y="1901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71600" y="19202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Timeout - 2 s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371600" y="2331720"/>
            <a:ext cx="4434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service lent est un service en panne : on libère la ressource et on décide.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7920" y="1645920"/>
            <a:ext cx="5486400" cy="1874520"/>
          </a:xfrm>
          <a:prstGeom prst="roundRect">
            <a:avLst>
              <a:gd name="adj" fmla="val 3902"/>
            </a:avLst>
          </a:prstGeom>
          <a:solidFill>
            <a:srgbClr val="F4F7FB"/>
          </a:solidFill>
          <a:ln w="12700">
            <a:solidFill>
              <a:srgbClr val="D8E2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73952" y="1901952"/>
            <a:ext cx="457200" cy="457200"/>
          </a:xfrm>
          <a:prstGeom prst="ellipse">
            <a:avLst/>
          </a:prstGeom>
          <a:solidFill>
            <a:srgbClr val="1168BD"/>
          </a:solidFill>
          <a:ln/>
        </p:spPr>
      </p:sp>
      <p:sp>
        <p:nvSpPr>
          <p:cNvPr id="11" name="Text 9"/>
          <p:cNvSpPr/>
          <p:nvPr/>
        </p:nvSpPr>
        <p:spPr>
          <a:xfrm>
            <a:off x="6473952" y="1901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086600" y="19202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Retry x3 + backoff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086600" y="2331720"/>
            <a:ext cx="4434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puis 400 ms (+ jitter), uniquement sur opérations idempotentes (Idempotency-Key).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703320"/>
            <a:ext cx="5486400" cy="1874520"/>
          </a:xfrm>
          <a:prstGeom prst="roundRect">
            <a:avLst>
              <a:gd name="adj" fmla="val 3902"/>
            </a:avLst>
          </a:prstGeom>
          <a:solidFill>
            <a:srgbClr val="F4F7FB"/>
          </a:solidFill>
          <a:ln w="12700">
            <a:solidFill>
              <a:srgbClr val="D8E2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58952" y="3959352"/>
            <a:ext cx="457200" cy="457200"/>
          </a:xfrm>
          <a:prstGeom prst="ellipse">
            <a:avLst/>
          </a:prstGeom>
          <a:solidFill>
            <a:srgbClr val="E8590C"/>
          </a:solidFill>
          <a:ln/>
        </p:spPr>
      </p:sp>
      <p:sp>
        <p:nvSpPr>
          <p:cNvPr id="16" name="Text 14"/>
          <p:cNvSpPr/>
          <p:nvPr/>
        </p:nvSpPr>
        <p:spPr>
          <a:xfrm>
            <a:off x="758952" y="3959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71600" y="3977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Circuit Breaker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371600" y="4389120"/>
            <a:ext cx="4434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Ouvert après 3 échecs consécutifs, fenêtre de 30 s, requête d'essai en semi-ouvert : fail fast, pas de cascade.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17920" y="3703320"/>
            <a:ext cx="5486400" cy="1874520"/>
          </a:xfrm>
          <a:prstGeom prst="roundRect">
            <a:avLst>
              <a:gd name="adj" fmla="val 3902"/>
            </a:avLst>
          </a:prstGeom>
          <a:solidFill>
            <a:srgbClr val="F4F7FB"/>
          </a:solidFill>
          <a:ln w="12700">
            <a:solidFill>
              <a:srgbClr val="D8E2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73952" y="3959352"/>
            <a:ext cx="457200" cy="457200"/>
          </a:xfrm>
          <a:prstGeom prst="ellipse">
            <a:avLst/>
          </a:prstGeom>
          <a:solidFill>
            <a:srgbClr val="1168BD"/>
          </a:solidFill>
          <a:ln/>
        </p:spPr>
      </p:sp>
      <p:sp>
        <p:nvSpPr>
          <p:cNvPr id="21" name="Text 19"/>
          <p:cNvSpPr/>
          <p:nvPr/>
        </p:nvSpPr>
        <p:spPr>
          <a:xfrm>
            <a:off x="6473952" y="3959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086600" y="3977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Fallback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7086600" y="4389120"/>
            <a:ext cx="4434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Commande conservée EN_ATTENTE_PAIEMENT + 503 Retry-After. Catalogue : cache Redis servi même périmé.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02920" y="57607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 prévue : arrêt du conteneur Paiement pendant la démo -&gt; le circuit s'ouvre, la commande est conservée, aucun service ne tombe.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microservices - Plateforme de livraison de repas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RÉSILIENCE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circuit breaker en action</a:t>
            </a:r>
            <a:endParaRPr lang="en-US" sz="3000" dirty="0"/>
          </a:p>
        </p:txBody>
      </p:sp>
      <p:pic>
        <p:nvPicPr>
          <p:cNvPr id="4" name="Image 0" descr="seq-circuit-break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331720" y="1325880"/>
            <a:ext cx="7498080" cy="5120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microservices - Plateforme de livraison de repas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ADRs tracent les choix majeurs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20140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4572000"/>
                <a:gridCol w="58521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Décision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 écartée - pourquoi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Microservices par bounded context (DDD)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Monolithe modulaire - scaling global uniquement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 per service, polyglotte (PG / Mongo / Redis)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partagée - couplage par le schéma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 synchrone + événements RabbitMQ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Kafka - opérationnellement lourd ; gRPC - complexité injustifiée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SAGA orchestrée (service Commande)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Chorégraphie - logique éparpillée dans 4 services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Gateway Kong (Paiement non exposé)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Accès direct - sécurité dupliquée partout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Circuit Breaker + Retry + Timeout + Fallback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 seul - aggrave la panne ; service mesh - exige K8s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58978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ADR documente contexte, options envisagées et conséquences assumées (docs/adr/).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microservices - Plateforme de livraison de repas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EN ŒUVRE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 technique et déploiement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2651760" cy="438912"/>
          </a:xfrm>
          <a:prstGeom prst="roundRect">
            <a:avLst>
              <a:gd name="adj" fmla="val 50000"/>
            </a:avLst>
          </a:prstGeom>
          <a:solidFill>
            <a:srgbClr val="EAF1F9"/>
          </a:solidFill>
          <a:ln w="12700">
            <a:solidFill>
              <a:srgbClr val="C6D6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91640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3364992" y="1691640"/>
            <a:ext cx="2651760" cy="438912"/>
          </a:xfrm>
          <a:prstGeom prst="roundRect">
            <a:avLst>
              <a:gd name="adj" fmla="val 50000"/>
            </a:avLst>
          </a:prstGeom>
          <a:solidFill>
            <a:srgbClr val="EAF1F9"/>
          </a:solidFill>
          <a:ln w="12700">
            <a:solidFill>
              <a:srgbClr val="C6D6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64992" y="1691640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27064" y="1691640"/>
            <a:ext cx="2651760" cy="438912"/>
          </a:xfrm>
          <a:prstGeom prst="roundRect">
            <a:avLst>
              <a:gd name="adj" fmla="val 50000"/>
            </a:avLst>
          </a:prstGeom>
          <a:solidFill>
            <a:srgbClr val="EAF1F9"/>
          </a:solidFill>
          <a:ln w="12700">
            <a:solidFill>
              <a:srgbClr val="C6D6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27064" y="1691640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9089136" y="1691640"/>
            <a:ext cx="2651760" cy="438912"/>
          </a:xfrm>
          <a:prstGeom prst="roundRect">
            <a:avLst>
              <a:gd name="adj" fmla="val 50000"/>
            </a:avLst>
          </a:prstGeom>
          <a:solidFill>
            <a:srgbClr val="EAF1F9"/>
          </a:solidFill>
          <a:ln w="12700">
            <a:solidFill>
              <a:srgbClr val="C6D6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089136" y="1691640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258568"/>
            <a:ext cx="2651760" cy="438912"/>
          </a:xfrm>
          <a:prstGeom prst="roundRect">
            <a:avLst>
              <a:gd name="adj" fmla="val 50000"/>
            </a:avLst>
          </a:prstGeom>
          <a:solidFill>
            <a:srgbClr val="EAF1F9"/>
          </a:solidFill>
          <a:ln w="12700">
            <a:solidFill>
              <a:srgbClr val="C6D6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258568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3364992" y="2258568"/>
            <a:ext cx="2651760" cy="438912"/>
          </a:xfrm>
          <a:prstGeom prst="roundRect">
            <a:avLst>
              <a:gd name="adj" fmla="val 50000"/>
            </a:avLst>
          </a:prstGeom>
          <a:solidFill>
            <a:srgbClr val="EAF1F9"/>
          </a:solidFill>
          <a:ln w="12700">
            <a:solidFill>
              <a:srgbClr val="C6D6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64992" y="2258568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RabbitMQ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27064" y="2258568"/>
            <a:ext cx="2651760" cy="438912"/>
          </a:xfrm>
          <a:prstGeom prst="roundRect">
            <a:avLst>
              <a:gd name="adj" fmla="val 50000"/>
            </a:avLst>
          </a:prstGeom>
          <a:solidFill>
            <a:srgbClr val="EAF1F9"/>
          </a:solidFill>
          <a:ln w="12700">
            <a:solidFill>
              <a:srgbClr val="C6D6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27064" y="2258568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Kong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9089136" y="2258568"/>
            <a:ext cx="2651760" cy="438912"/>
          </a:xfrm>
          <a:prstGeom prst="roundRect">
            <a:avLst>
              <a:gd name="adj" fmla="val 50000"/>
            </a:avLst>
          </a:prstGeom>
          <a:solidFill>
            <a:srgbClr val="EAF1F9"/>
          </a:solidFill>
          <a:ln w="12700">
            <a:solidFill>
              <a:srgbClr val="C6D6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89136" y="2258568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2920" y="3063240"/>
            <a:ext cx="5486400" cy="2926080"/>
          </a:xfrm>
          <a:prstGeom prst="roundRect">
            <a:avLst>
              <a:gd name="adj" fmla="val 2500"/>
            </a:avLst>
          </a:prstGeom>
          <a:solidFill>
            <a:srgbClr val="F4F7FB"/>
          </a:solidFill>
          <a:ln w="12700">
            <a:solidFill>
              <a:srgbClr val="D8E2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2918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Prototype (cible)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77240" y="3749040"/>
            <a:ext cx="4983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docker-compose.yml : services mockés + RabbitMQ + Kong + bases</a:t>
            </a:r>
            <a:endParaRPr lang="en-US" sz="135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moins 3 services codés : Commande, Paiement, Restaurant</a:t>
            </a:r>
            <a:endParaRPr lang="en-US" sz="135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UI généré par FastAPI, conforme aux contrats OpenAPI</a:t>
            </a:r>
            <a:endParaRPr lang="en-US" sz="135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Résilience démontrée en coupant le conteneur Paiement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217920" y="3063240"/>
            <a:ext cx="5486400" cy="2926080"/>
          </a:xfrm>
          <a:prstGeom prst="roundRect">
            <a:avLst>
              <a:gd name="adj" fmla="val 2500"/>
            </a:avLst>
          </a:prstGeom>
          <a:solidFill>
            <a:srgbClr val="F4F7FB"/>
          </a:solidFill>
          <a:ln w="12700">
            <a:solidFill>
              <a:srgbClr val="D8E2E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0" y="32918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Pourquoi cette stack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492240" y="3749040"/>
            <a:ext cx="4983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: OpenAPI natif, rapide à mocker, async natif</a:t>
            </a:r>
            <a:endParaRPr lang="en-US" sz="135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RabbitMQ recommandé par l'énoncé pour un projet court</a:t>
            </a:r>
            <a:endParaRPr lang="en-US" sz="135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Persistance adaptée à chaque usage : ACID, documents, géo/TTL</a:t>
            </a:r>
            <a:endParaRPr lang="en-US" sz="135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se lance en une commande : docker compose up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microservices - Plateforme de livraison de repas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ANNEXE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Modèles de données simplifiés des services clés</a:t>
            </a:r>
            <a:endParaRPr lang="en-US" sz="3000" dirty="0"/>
          </a:p>
        </p:txBody>
      </p:sp>
      <p:pic>
        <p:nvPicPr>
          <p:cNvPr id="4" name="Image 0" descr="modele-donne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1463040"/>
            <a:ext cx="10634472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microservices - Plateforme de livraison de repas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-1645920"/>
            <a:ext cx="4023360" cy="4023360"/>
          </a:xfrm>
          <a:prstGeom prst="ellipse">
            <a:avLst/>
          </a:prstGeom>
          <a:solidFill>
            <a:srgbClr val="1168BD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5029200"/>
            <a:ext cx="3474720" cy="3474720"/>
          </a:xfrm>
          <a:prstGeom prst="ellipse">
            <a:avLst/>
          </a:prstGeom>
          <a:solidFill>
            <a:srgbClr val="E8590C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FB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architecture justifiée de bout en bout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2240280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Découpage guidé par le domaine (DDD), pas par la technique</a:t>
            </a:r>
            <a:endParaRPr lang="en-US" sz="1600" dirty="0"/>
          </a:p>
          <a:p>
            <a:pPr marL="152400" indent="-1524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Cohérence distribuée maîtrisée : SAGA orchestrée, outbox, idempotence</a:t>
            </a:r>
            <a:endParaRPr lang="en-US" sz="1600" dirty="0"/>
          </a:p>
          <a:p>
            <a:pPr marL="152400" indent="-1524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Pannes anticipées : circuit breaker, compensations, files durables</a:t>
            </a:r>
            <a:endParaRPr lang="en-US" sz="1600" dirty="0"/>
          </a:p>
          <a:p>
            <a:pPr marL="152400" indent="-1524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décision tracée et argumentée dans un ADR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572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Perspectives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31520" y="49834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FB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 et event sourcing pour l'audit complet - CQRS poussé sur le catalogue - observabilité (traces distribuées) - Kubernetes et service mesh à l'échelle.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6035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- place à la démonstration et aux questions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2026-07-14T12:46:34Z</dcterms:created>
  <dcterms:modified xsi:type="dcterms:W3CDTF">2026-07-14T12:46:34Z</dcterms:modified>
</cp:coreProperties>
</file>