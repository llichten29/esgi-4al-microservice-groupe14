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Couverture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23263B"/>
                    </a:solidFill>
                    <a:latin typeface="Arial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restaurant-service</c:v>
                </c:pt>
                <c:pt idx="1">
                  <c:v>shared</c:v>
                </c:pt>
                <c:pt idx="2">
                  <c:v>catalog-service</c:v>
                </c:pt>
                <c:pt idx="3">
                  <c:v>order-service</c:v>
                </c:pt>
                <c:pt idx="4">
                  <c:v>customer-service</c:v>
                </c:pt>
                <c:pt idx="5">
                  <c:v>deliverer-service</c:v>
                </c:pt>
                <c:pt idx="6">
                  <c:v>payment-service</c:v>
                </c:pt>
                <c:pt idx="7">
                  <c:v>notification-service</c:v>
                </c:pt>
                <c:pt idx="8">
                  <c:v>rating-service</c:v>
                </c:pt>
                <c:pt idx="9">
                  <c:v>delivery-service</c:v>
                </c:pt>
                <c:pt idx="10">
                  <c:v>api-gateway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91.6</c:v>
                </c:pt>
                <c:pt idx="1">
                  <c:v>92.3</c:v>
                </c:pt>
                <c:pt idx="2">
                  <c:v>93.3</c:v>
                </c:pt>
                <c:pt idx="3">
                  <c:v>93.5</c:v>
                </c:pt>
                <c:pt idx="4">
                  <c:v>94.1</c:v>
                </c:pt>
                <c:pt idx="5">
                  <c:v>94.2</c:v>
                </c:pt>
                <c:pt idx="6">
                  <c:v>94.4</c:v>
                </c:pt>
                <c:pt idx="7">
                  <c:v>94.9</c:v>
                </c:pt>
                <c:pt idx="8">
                  <c:v>95.3</c:v>
                </c:pt>
                <c:pt idx="9">
                  <c:v>95.4</c:v>
                </c:pt>
                <c:pt idx="10">
                  <c:v>96.5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13-44E5-9EC9-20FAEC64EF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23263B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 cmpd="sng" algn="ctr">
              <a:solidFill>
                <a:srgbClr val="E1E4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B7089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94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828800"/>
            <a:ext cx="4937760" cy="493776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37215" y="4480560"/>
            <a:ext cx="3108960" cy="3108960"/>
          </a:xfrm>
          <a:prstGeom prst="ellipse">
            <a:avLst/>
          </a:prstGeom>
          <a:solidFill>
            <a:srgbClr val="F9E795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5120640"/>
            <a:ext cx="3291840" cy="329184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DashEat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livraison de repas - Architecture microservices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microservices  -  SAGA orchestrée  -  Circuit Breaker  -  Contrats OpenAPI  -  REST + RabbitMQ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ESGI 4AL - Groupe 14        Soutenance - 15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système, trois acteurs, deux mondes externes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470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361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les restaurants, compose son panier, paie en ligne et suit sa livraison en temps réel.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8470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8361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Restaurateur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0288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son profil, ses menus et ses horaires ; accepte ou refuse chaque commande reçue.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184708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18361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 indépendant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5048" y="27889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 sa disponibilité, accepte les courses proposées et confirme la remise au client.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externes (simulés dans le prototype)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 de paiement (PSP) : traitement et remboursement des paiements - aucune donnée de carte chez nous (jetons)</a:t>
            </a:r>
            <a:endParaRPr lang="en-US" sz="13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email / SMS / push pour les notifications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DOMAINE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démarche DDD : des sous-domaines aux bounded contexts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2834640"/>
          </a:xfrm>
          <a:prstGeom prst="roundRect">
            <a:avLst>
              <a:gd name="adj" fmla="val 2258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métier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commande (orchestration de bout en bout)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: suivi des courses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Flotte de livreurs : disponibilité et affectation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834640"/>
          </a:xfrm>
          <a:prstGeom prst="roundRect">
            <a:avLst>
              <a:gd name="adj" fmla="val 2258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et menus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et recherche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et comptes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/ avis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554480"/>
            <a:ext cx="3566160" cy="2834640"/>
          </a:xfrm>
          <a:prstGeom prst="roundRect">
            <a:avLst>
              <a:gd name="adj" fmla="val 2258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2402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(délégué au PSP)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(purement technique)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201400" cy="1463040"/>
          </a:xfrm>
          <a:prstGeom prst="roundRect">
            <a:avLst>
              <a:gd name="adj" fmla="val 4375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864608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mot, des modèles différents : </a:t>
            </a: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est un agrégat avec cycle de vie pour Commande, un ticket de préparation pour Restaurant, une simple course pour Livraison ; un livreur est un agrégat riche pour la Flotte, un simple identifiant pour la Livraison. Ces divergences de langage délimitent les bounded contexts - et donc les microservices.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 microservices, un par bounded context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2245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Routage piloté par les contrats OpenAPI, agrégation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 vie des commandes + orchestrateur SAGA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Menus, horaires, acceptation des commandes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(read model CQRS)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+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Paiements et remboursements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et suivi des courses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push, SMS (simulés)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 restaurants et livreurs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Comptes, adresses, authentification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Flotte : disponibilité, affectation, libération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 (ADR-002) : </a:t>
            </a: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base partagée ; l'affectation des moteurs est justifiée dans l'ADR-007.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conteneurs (C4 - niveau 2)</a:t>
            </a:r>
            <a:endParaRPr lang="en-US" sz="2900" dirty="0"/>
          </a:p>
        </p:txBody>
      </p:sp>
      <p:pic>
        <p:nvPicPr>
          <p:cNvPr id="4" name="Image 0" descr="D:/Mon PC/Mes Documents/Mastere architecte logiciel a l'ESGI/1ere annee/3eme trimestre/2) Architecture Microservices/3) Evaluations/Projet/documentation/diagrams/c2-contene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00" y="1371600"/>
            <a:ext cx="6505495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8" name="Image 0" descr="D:/Mon PC/Mes Documents/Mastere architecte logiciel a l'ESGI/1ere annee/3eme trimestre/2) Architecture Microservices/3) Evaluations/Projet/documentation/diagrams/c2-conteneurs.png">
            <a:extLst>
              <a:ext uri="{FF2B5EF4-FFF2-40B4-BE49-F238E27FC236}">
                <a16:creationId xmlns:a16="http://schemas.microsoft.com/office/drawing/2014/main" id="{7D15CC6A-62B3-9680-E715-65F43DB83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371600"/>
            <a:ext cx="650549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Synchrone quand il le faut, asynchrone par défaut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2880360"/>
          </a:xfrm>
          <a:prstGeom prst="roundRect">
            <a:avLst>
              <a:gd name="adj" fmla="val 2222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(synchrone)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212848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-&gt; API Gateway -&gt; services (lectures, actions)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-&gt; Paiement : le client attend le résultat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OpenAPI 3 chargés et validés à l'exécution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protégé : timeout, retry, circuit breaker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2880360"/>
          </a:xfrm>
          <a:prstGeom prst="roundRect">
            <a:avLst>
              <a:gd name="adj" fmla="val 2222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RabbitMQ (asynchrone)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10528" y="2212848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topic par service (order.events, payment.events...)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à délai humain : acceptation restaurant, affectation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: notifications, projection du catalogue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idempotence des consommateurs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663440"/>
            <a:ext cx="11201400" cy="1463040"/>
          </a:xfrm>
          <a:prstGeom prst="roundRect">
            <a:avLst>
              <a:gd name="adj" fmla="val 4375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864608"/>
            <a:ext cx="1056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Flask maison : </a:t>
            </a: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unique ; sa table de routage est construite au démarrage à partir des contrats OpenAPI des services (le tag de chaque opération désigne la cible). Il sert la spécification agrégée sur /openapi.yaml et Swagger UI sur /docs.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D'API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 contrats OpenAPI qui pilotent l'exécution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3657600"/>
          </a:xfrm>
          <a:prstGeom prst="roundRect">
            <a:avLst>
              <a:gd name="adj" fmla="val 1750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par service (OpenAPI 3.0.3)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" y="2212848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 : services/ressources/endpoints/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Copiés dans chaque image Docker, chargés au démarrage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Reflètent le code réellement implémenté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uniformes { error: { code, message } }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(bearerAuth) uniquement sur le service Client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 documentaire dans documentation/api/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3657600"/>
          </a:xfrm>
          <a:prstGeom prst="roundRect">
            <a:avLst>
              <a:gd name="adj" fmla="val 1750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contrats pilotent le comportement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10528" y="2212848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requêtes entrantes : 400 SCHEMA_VALIDATION_FAILED, INVALID_INPUT, MISSING_PARAMETER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expose GET /openapi.yaml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: routage construit depuis les contrats (tags)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agrégée + Swagger UI sur /docs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endpoint au contrat = routable et documenté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54406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55138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03120" y="5513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54406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55138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897880" y="5513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agrégées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54406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551383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692640" y="5513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pytest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transaction distribuée : une SAGA orchestrée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cohérence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2212848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à l'intérieur d'un service, cohérence à terme entre services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2PC/XA rejeté : bloquant, fragile, non supporté par nos briques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 : état + événement publiés atomiquement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 généralisée des consommateurs</a:t>
            </a:r>
            <a:endParaRPr lang="en-US" sz="1300" dirty="0"/>
          </a:p>
          <a:p>
            <a:pPr marL="127000" indent="-1270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plutôt que chorégraphie : étapes et compensations lisibles en un seul endroit, état requêtable (GET /orders/{id}/saga)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étapes orchestrées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10528" y="228600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2750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224942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commande (état CREATED)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0528" y="3017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0065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9809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- REST synchrone + circuit breaker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10528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37380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37124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acceptation du restaurant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0528" y="44805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44695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444398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d'un livreur (service Flotte)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10528" y="52120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520110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51755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suivie jusqu'à DELIVERED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 de commande : nominal et compensation</a:t>
            </a:r>
            <a:endParaRPr lang="en-US" sz="2900" dirty="0"/>
          </a:p>
        </p:txBody>
      </p:sp>
      <p:pic>
        <p:nvPicPr>
          <p:cNvPr id="4" name="Image 0" descr="D:/Mon PC/Mes Documents/Mastere architecte logiciel a l'ESGI/1ere annee/3eme trimestre/2) Architecture Microservices/3) Evaluations/Projet/documentation/diagrams/seq-saga-comman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134" y="1371600"/>
            <a:ext cx="6457428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scénarios d'échec, trois compensations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refusé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2 - rien à défaire : la commande passe CANCELLED, le client est notifié immédiatement.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084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refuse ou silencieux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du paiement (POST /payments/{id}/refund), commande CANCELLED, notification.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566160" cy="2651760"/>
          </a:xfrm>
          <a:prstGeom prst="roundRect">
            <a:avLst>
              <a:gd name="adj" fmla="val 2414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084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livreur disponible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course reste PENDING et est réaffectée ; au-delà du délai : remboursement complet et annulation.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645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des compensations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474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Idempotentes et rejouées avec backoff - jamais abandonnées</a:t>
            </a:r>
            <a:endParaRPr lang="en-US" sz="13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requêtable : GET /orders/{order_id}/saga (états et transitions horodatés)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patterns combinés sur les appels critiques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95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2267712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lent est un service en panne : chaque appel HTTP sortant est borné, la ressource est libérée.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105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995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9168" y="1792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x3 + backoff exponentiel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9168" y="2267712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s, 2 s puis 4 s - uniquement sur opérations idempotentes (paiement : jeton card_flaky pour la démo).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136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026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44168" y="3895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4370832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 après 5 échecs consécutifs, fenêtre de 30 s, requête d'essai en semi-ouvert : fail fast, pas de cascade.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136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026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9168" y="3895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9168" y="4370832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conservée + 503 explicite côté client ; catalogue servi depuis le cache Redis même périmé.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760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prévue : </a:t>
            </a:r>
            <a:r>
              <a:rPr lang="en-US" sz="13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du conteneur Paiement pendant la démo -&gt; le circuit s'ouvre, la commande est conservée, aucun service ne tombe.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circuit breaker en action</a:t>
            </a:r>
            <a:endParaRPr lang="en-US" sz="2900" dirty="0"/>
          </a:p>
        </p:txBody>
      </p:sp>
      <p:pic>
        <p:nvPicPr>
          <p:cNvPr id="4" name="Image 0" descr="D:/Mon PC/Mes Documents/Mastere architecte logiciel a l'ESGI/1ere annee/3eme trimestre/2) Architecture Microservices/3) Evaluations/Projet/documentation/diagrams/seq-circuit-bre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335" y="1371600"/>
            <a:ext cx="4845026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ADRs tracent les choix majeurs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380390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écartée - pourquoi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par bounded context (DDD)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Monolithe modulaire - scaling global uniquement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per service, persistance polyglotte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partagée - couplage par le schéma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synchrone + événements RabbitMQ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- opérationnellement lourd ; gRPC - complexité injustifiée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orchestrée (service Commande)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Chorégraphie - logique éparpillée dans 4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en point d'entrée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direct aux services - sécurité dupliquée partout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 + Retry + Timeout +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seul - aggrave la panne ; service mesh - disproportionné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Moteurs de persistance par service (PG / Mongo / ES / Redis)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PostgreSQL - perd l'adéquation modèle/usage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Architecture, stack réelle et prototype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dans chaque service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5528" y="2286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BF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et règles métier - aucune dépendance externe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" y="2944368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BF7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29443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d'utilisation, orchestration via abstractions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60273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BF7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6027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6027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(in-memory, MongoDB), clients, broker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4261104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8EBF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2611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interfaces/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06040" y="4261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REST + handlers d'événements RabbitMQ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dépendance vers l'intérieur : </a:t>
            </a: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un service in-memory vers MongoDB ou brancher la validation OpenAPI ne touche jamais au domaine.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et prototype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10528" y="224028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66176" y="224028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21824" y="224028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21824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0528" y="2807208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8072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66176" y="2807208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28072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21824" y="2807208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21824" y="28072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10528" y="3374136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66176" y="3374136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6176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021824" y="3374136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21824" y="33741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10528" y="3941064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F6F7FB"/>
          </a:solidFill>
          <a:ln w="9525">
            <a:solidFill>
              <a:srgbClr val="D9DD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9410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10528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services Flask + gateway, lancés par docker compose up</a:t>
            </a:r>
            <a:endParaRPr lang="en-US" sz="1250" dirty="0"/>
          </a:p>
          <a:p>
            <a:pPr marL="127000" indent="-1270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OpenAPI validés à l'exécution sur chaque service</a:t>
            </a:r>
            <a:endParaRPr lang="en-US" sz="1250" dirty="0"/>
          </a:p>
          <a:p>
            <a:pPr marL="127000" indent="-1270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 tests pytest, qualité suivie dans SonarQube</a:t>
            </a:r>
            <a:endParaRPr lang="en-US" sz="1250" dirty="0"/>
          </a:p>
          <a:p>
            <a:pPr marL="127000" indent="-127000" algn="l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démontrée en coupant le conteneur Paiement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 tests, 94 % de couverture sur 3 751 lignes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12079425"/>
              </p:ext>
            </p:extLst>
          </p:nvPr>
        </p:nvGraphicFramePr>
        <p:xfrm>
          <a:off x="502920" y="150876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4069080" cy="1234440"/>
          </a:xfrm>
          <a:prstGeom prst="roundRect">
            <a:avLst>
              <a:gd name="adj" fmla="val 5185"/>
            </a:avLst>
          </a:prstGeom>
          <a:solidFill>
            <a:srgbClr val="E8EBF7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62763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93,9 %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829800" y="1627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couverture globale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(3 521 / 3 751 lignes)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2926080"/>
            <a:ext cx="4069080" cy="3154680"/>
          </a:xfrm>
          <a:prstGeom prst="roundRect">
            <a:avLst>
              <a:gd name="adj" fmla="val 2029"/>
            </a:avLst>
          </a:prstGeom>
          <a:solidFill>
            <a:srgbClr val="F6F7FB"/>
          </a:solidFill>
          <a:ln/>
          <a:effectLst>
            <a:outerShdw blurRad="76200" dist="25400" dir="5400000" algn="bl" rotWithShape="0">
              <a:srgbClr val="2F3C7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chiffres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3493008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au-dessus de 91 % ; seuil de 80 % par service vérifié par check_coverage.py</a:t>
            </a:r>
            <a:endParaRPr lang="en-US" sz="11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create_app testées avec broker simulé (connecté, absent, en panne)</a:t>
            </a:r>
            <a:endParaRPr lang="en-US" sz="11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du SAGA testés unitairement : circuit breaker et retries sous mocks</a:t>
            </a:r>
            <a:endParaRPr lang="en-US" sz="11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et cas d'utilisation testés sans Flask ni RabbitMQ (Clean Architecture)</a:t>
            </a:r>
            <a:endParaRPr lang="en-US" sz="1150" dirty="0"/>
          </a:p>
          <a:p>
            <a:pPr marL="127000" indent="-1270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versionnée dans coverage.xml, consommée par SonarQube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de données simplifiés des services clés</a:t>
            </a:r>
            <a:endParaRPr lang="en-US" sz="2900" dirty="0"/>
          </a:p>
        </p:txBody>
      </p:sp>
      <p:pic>
        <p:nvPicPr>
          <p:cNvPr id="4" name="Image 0" descr="D:/Mon PC/Mes Documents/Mastere architecte logiciel a l'ESGI/1ere annee/3eme trimestre/2) Architecture Microservices/3) Evaluations/Projet/documentation/diagrams/modele-donne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37" y="1371600"/>
            <a:ext cx="10145021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4572000" cy="4572000"/>
          </a:xfrm>
          <a:prstGeom prst="ellipse">
            <a:avLst/>
          </a:prstGeom>
          <a:solidFill>
            <a:srgbClr val="F9616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4206240"/>
            <a:ext cx="3840480" cy="3840480"/>
          </a:xfrm>
          <a:prstGeom prst="ellipse">
            <a:avLst/>
          </a:prstGeom>
          <a:solidFill>
            <a:srgbClr val="F9E795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DashEat : une architecture justifiée de bout en bout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guidé par le domaine (DDD) : dix services, dont la séparation Livraison / Flotte de livreurs</a:t>
            </a:r>
            <a:endParaRPr lang="en-US" sz="15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OpenAPI exécutables : validation des requêtes et routage du gateway pilotés par les mêmes fichiers</a:t>
            </a:r>
            <a:endParaRPr lang="en-US" sz="15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distribuée maîtrisée : SAGA orchestrée, outbox, idempotence</a:t>
            </a:r>
            <a:endParaRPr lang="en-US" sz="15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anticipées : circuit breaker, retries, compensations, files durables</a:t>
            </a:r>
            <a:endParaRPr lang="en-US" sz="150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tracée et argumentée dans l'un des sept ADRs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</a:t>
            </a:r>
            <a:r>
              <a:rPr lang="en-US" sz="1400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(traces distribuées), event sourcing pour l'audit, CQRS poussé sur le catalogue, Kubernetes et service mesh à l'échelle.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- place à la démonstration et aux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DashEat - Architecture microservices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1613</Words>
  <Application>Microsoft Office PowerPoint</Application>
  <PresentationFormat>Grand écran</PresentationFormat>
  <Paragraphs>292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Lior Lichten</cp:lastModifiedBy>
  <cp:revision>2</cp:revision>
  <dcterms:created xsi:type="dcterms:W3CDTF">2026-07-23T16:09:00Z</dcterms:created>
  <dcterms:modified xsi:type="dcterms:W3CDTF">2026-07-23T16:18:21Z</dcterms:modified>
</cp:coreProperties>
</file>